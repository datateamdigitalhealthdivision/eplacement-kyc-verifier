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338560" cy="34747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2600" b="1">
                <a:solidFill>
                  <a:srgbClr val="172033"/>
                </a:solidFill>
                <a:latin typeface="Aptos"/>
              </a:rPr>
              <a:t>Administrative evidence verification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" y="676656"/>
            <a:ext cx="11155680" cy="27432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1300" b="0">
                <a:solidFill>
                  <a:srgbClr val="5B667A"/>
                </a:solidFill>
                <a:latin typeface="Aptos"/>
              </a:rPr>
              <a:t>People applying for placement submit structured claims and heterogeneous proof bundles.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417320"/>
            <a:ext cx="2514600" cy="1783080"/>
          </a:xfrm>
          <a:prstGeom prst="roundRect">
            <a:avLst/>
          </a:prstGeom>
          <a:solidFill>
            <a:srgbClr val="F4F8FC"/>
          </a:solidFill>
          <a:ln w="15240">
            <a:solidFill>
              <a:srgbClr val="BECA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11480" y="1417320"/>
            <a:ext cx="73152" cy="1783080"/>
          </a:xfrm>
          <a:prstGeom prst="roundRect">
            <a:avLst/>
          </a:prstGeom>
          <a:solidFill>
            <a:srgbClr val="2550D8"/>
          </a:solidFill>
          <a:ln>
            <a:solidFill>
              <a:srgbClr val="255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" y="1618488"/>
            <a:ext cx="2194560" cy="29260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1500" b="1">
                <a:solidFill>
                  <a:srgbClr val="172033"/>
                </a:solidFill>
                <a:latin typeface="Aptos"/>
              </a:rPr>
              <a:t>Applicant claims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" y="2020824"/>
            <a:ext cx="2194560" cy="10972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1000" b="0">
                <a:solidFill>
                  <a:srgbClr val="5B667A"/>
                </a:solidFill>
                <a:latin typeface="Aptos"/>
              </a:rPr>
              <a:t>Structured form data records marital, health, family, location, disability and examination claims.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017520" y="2304288"/>
            <a:ext cx="320040" cy="0"/>
          </a:xfrm>
          <a:prstGeom prst="line">
            <a:avLst/>
          </a:prstGeom>
          <a:ln w="25400">
            <a:solidFill>
              <a:srgbClr val="BECA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3291840" y="1417320"/>
            <a:ext cx="2514600" cy="1783080"/>
          </a:xfrm>
          <a:prstGeom prst="roundRect">
            <a:avLst/>
          </a:prstGeom>
          <a:solidFill>
            <a:srgbClr val="F4F8FC"/>
          </a:solidFill>
          <a:ln w="15240">
            <a:solidFill>
              <a:srgbClr val="BECA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291840" y="1417320"/>
            <a:ext cx="73152" cy="178308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93008" y="1618488"/>
            <a:ext cx="2194560" cy="29260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1500" b="1">
                <a:solidFill>
                  <a:srgbClr val="172033"/>
                </a:solidFill>
                <a:latin typeface="Aptos"/>
              </a:rPr>
              <a:t>Document bundles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93008" y="2020824"/>
            <a:ext cx="2194560" cy="10972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1000" b="0">
                <a:solidFill>
                  <a:srgbClr val="5B667A"/>
                </a:solidFill>
                <a:latin typeface="Aptos"/>
              </a:rPr>
              <a:t>Uploaded PDFs mix certificates, letters, medical notes, forms, scans and unrelated pages.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897880" y="2304288"/>
            <a:ext cx="320040" cy="0"/>
          </a:xfrm>
          <a:prstGeom prst="line">
            <a:avLst/>
          </a:prstGeom>
          <a:ln w="25400">
            <a:solidFill>
              <a:srgbClr val="BECA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172200" y="1417320"/>
            <a:ext cx="2514600" cy="1783080"/>
          </a:xfrm>
          <a:prstGeom prst="roundRect">
            <a:avLst/>
          </a:prstGeom>
          <a:solidFill>
            <a:srgbClr val="F4F8FC"/>
          </a:solidFill>
          <a:ln w="15240">
            <a:solidFill>
              <a:srgbClr val="BECA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172200" y="1417320"/>
            <a:ext cx="73152" cy="1783080"/>
          </a:xfrm>
          <a:prstGeom prst="round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73368" y="1618488"/>
            <a:ext cx="2194560" cy="29260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1500" b="1">
                <a:solidFill>
                  <a:srgbClr val="172033"/>
                </a:solidFill>
                <a:latin typeface="Aptos"/>
              </a:rPr>
              <a:t>Verifier method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3368" y="2020824"/>
            <a:ext cx="2194560" cy="10972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1000" b="0">
                <a:solidFill>
                  <a:srgbClr val="5B667A"/>
                </a:solidFill>
                <a:latin typeface="Aptos"/>
              </a:rPr>
              <a:t>A local-first harness checks only claimed categories using rules, OCR, page images and a VLM.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778240" y="2304288"/>
            <a:ext cx="320040" cy="0"/>
          </a:xfrm>
          <a:prstGeom prst="line">
            <a:avLst/>
          </a:prstGeom>
          <a:ln w="25400">
            <a:solidFill>
              <a:srgbClr val="BECA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9052560" y="1417320"/>
            <a:ext cx="2514600" cy="1783080"/>
          </a:xfrm>
          <a:prstGeom prst="roundRect">
            <a:avLst/>
          </a:prstGeom>
          <a:solidFill>
            <a:srgbClr val="F4F8FC"/>
          </a:solidFill>
          <a:ln w="15240">
            <a:solidFill>
              <a:srgbClr val="BECA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052560" y="1417320"/>
            <a:ext cx="73152" cy="1783080"/>
          </a:xfrm>
          <a:prstGeom prst="roundRect">
            <a:avLst/>
          </a:prstGeom>
          <a:solidFill>
            <a:srgbClr val="15803D"/>
          </a:solidFill>
          <a:ln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53728" y="1618488"/>
            <a:ext cx="2194560" cy="29260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1500" b="1">
                <a:solidFill>
                  <a:srgbClr val="172033"/>
                </a:solidFill>
                <a:latin typeface="Aptos"/>
              </a:rPr>
              <a:t>Operator queue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53728" y="2020824"/>
            <a:ext cx="2194560" cy="10972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1000" b="0">
                <a:solidFill>
                  <a:srgbClr val="5B667A"/>
                </a:solidFill>
                <a:latin typeface="Aptos"/>
              </a:rPr>
              <a:t>Reviewers receive proof summaries, page references, confidence and a check/no-check decision.</a:t>
            </a:r>
          </a:p>
        </p:txBody>
      </p:sp>
      <p:sp>
        <p:nvSpPr>
          <p:cNvPr id="23" name="Oval 22"/>
          <p:cNvSpPr/>
          <p:nvPr/>
        </p:nvSpPr>
        <p:spPr>
          <a:xfrm>
            <a:off x="987552" y="3977639"/>
            <a:ext cx="868680" cy="868680"/>
          </a:xfrm>
          <a:prstGeom prst="ellipse">
            <a:avLst/>
          </a:prstGeom>
          <a:solidFill>
            <a:srgbClr val="ECFDF5"/>
          </a:solidFill>
          <a:ln>
            <a:solidFill>
              <a:srgbClr val="99F6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86968" y="4160520"/>
            <a:ext cx="1060704" cy="21031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ctr"/>
            <a:r>
              <a:rPr sz="1800" b="1">
                <a:solidFill>
                  <a:srgbClr val="0F766E"/>
                </a:solidFill>
                <a:latin typeface="Aptos"/>
              </a:rPr>
              <a:t>238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4443984"/>
            <a:ext cx="1554480" cy="27432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ctr"/>
            <a:r>
              <a:rPr sz="900" b="0">
                <a:solidFill>
                  <a:srgbClr val="5B667A"/>
                </a:solidFill>
                <a:latin typeface="Aptos"/>
              </a:rPr>
              <a:t>applicants</a:t>
            </a:r>
          </a:p>
        </p:txBody>
      </p:sp>
      <p:sp>
        <p:nvSpPr>
          <p:cNvPr id="26" name="Oval 25"/>
          <p:cNvSpPr/>
          <p:nvPr/>
        </p:nvSpPr>
        <p:spPr>
          <a:xfrm>
            <a:off x="3867912" y="3977639"/>
            <a:ext cx="868680" cy="868680"/>
          </a:xfrm>
          <a:prstGeom prst="ellipse">
            <a:avLst/>
          </a:prstGeom>
          <a:solidFill>
            <a:srgbClr val="ECFDF5"/>
          </a:solidFill>
          <a:ln>
            <a:solidFill>
              <a:srgbClr val="99F6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767328" y="4160520"/>
            <a:ext cx="1060704" cy="21031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ctr"/>
            <a:r>
              <a:rPr sz="1800" b="1">
                <a:solidFill>
                  <a:srgbClr val="0F766E"/>
                </a:solidFill>
                <a:latin typeface="Aptos"/>
              </a:rPr>
              <a:t>1,428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20440" y="4443984"/>
            <a:ext cx="1554480" cy="27432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ctr"/>
            <a:r>
              <a:rPr sz="900" b="0">
                <a:solidFill>
                  <a:srgbClr val="5B667A"/>
                </a:solidFill>
                <a:latin typeface="Aptos"/>
              </a:rPr>
              <a:t>evidence decisions</a:t>
            </a:r>
          </a:p>
        </p:txBody>
      </p:sp>
      <p:sp>
        <p:nvSpPr>
          <p:cNvPr id="29" name="Oval 28"/>
          <p:cNvSpPr/>
          <p:nvPr/>
        </p:nvSpPr>
        <p:spPr>
          <a:xfrm>
            <a:off x="6748272" y="3977639"/>
            <a:ext cx="868680" cy="868680"/>
          </a:xfrm>
          <a:prstGeom prst="ellipse">
            <a:avLst/>
          </a:prstGeom>
          <a:solidFill>
            <a:srgbClr val="ECFDF5"/>
          </a:solidFill>
          <a:ln>
            <a:solidFill>
              <a:srgbClr val="99F6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47688" y="4160520"/>
            <a:ext cx="1060704" cy="21031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ctr"/>
            <a:r>
              <a:rPr sz="1800" b="1">
                <a:solidFill>
                  <a:srgbClr val="0F766E"/>
                </a:solidFill>
                <a:latin typeface="Aptos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4443984"/>
            <a:ext cx="1554480" cy="27432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ctr"/>
            <a:r>
              <a:rPr sz="900" b="0">
                <a:solidFill>
                  <a:srgbClr val="5B667A"/>
                </a:solidFill>
                <a:latin typeface="Aptos"/>
              </a:rPr>
              <a:t>proof domains</a:t>
            </a:r>
          </a:p>
        </p:txBody>
      </p:sp>
      <p:sp>
        <p:nvSpPr>
          <p:cNvPr id="32" name="Oval 31"/>
          <p:cNvSpPr/>
          <p:nvPr/>
        </p:nvSpPr>
        <p:spPr>
          <a:xfrm>
            <a:off x="9628632" y="3977639"/>
            <a:ext cx="868680" cy="868680"/>
          </a:xfrm>
          <a:prstGeom prst="ellipse">
            <a:avLst/>
          </a:prstGeom>
          <a:solidFill>
            <a:srgbClr val="ECFDF5"/>
          </a:solidFill>
          <a:ln>
            <a:solidFill>
              <a:srgbClr val="99F6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528048" y="4160520"/>
            <a:ext cx="1060704" cy="21031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ctr"/>
            <a:r>
              <a:rPr sz="1800" b="1">
                <a:solidFill>
                  <a:srgbClr val="0F766E"/>
                </a:solidFill>
                <a:latin typeface="Aptos"/>
              </a:rPr>
              <a:t>26.9%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81160" y="4443984"/>
            <a:ext cx="1554480" cy="27432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ctr"/>
            <a:r>
              <a:rPr sz="900" b="0">
                <a:solidFill>
                  <a:srgbClr val="5B667A"/>
                </a:solidFill>
                <a:latin typeface="Aptos"/>
              </a:rPr>
              <a:t>manual-review queue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" y="5486400"/>
            <a:ext cx="10241280" cy="4114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ctr"/>
            <a:r>
              <a:rPr sz="1500" b="1">
                <a:solidFill>
                  <a:srgbClr val="172033"/>
                </a:solidFill>
                <a:latin typeface="Aptos"/>
              </a:rPr>
              <a:t>Contribution: a claim-guided proof verifier that treats accuracy, auditability, privacy and review workload as one implementation problem.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338560" cy="34747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2600" b="1">
                <a:solidFill>
                  <a:srgbClr val="172033"/>
                </a:solidFill>
                <a:latin typeface="Aptos"/>
              </a:rPr>
              <a:t>Six proof categories used by the verifier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" y="676656"/>
            <a:ext cx="11155680" cy="27432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1300" b="0">
                <a:solidFill>
                  <a:srgbClr val="5B667A"/>
                </a:solidFill>
                <a:latin typeface="Aptos"/>
              </a:rPr>
              <a:t>Evidence is checked only when the applicant claimed that category.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98448"/>
            <a:ext cx="3337560" cy="1417320"/>
          </a:xfrm>
          <a:prstGeom prst="roundRect">
            <a:avLst/>
          </a:prstGeom>
          <a:solidFill>
            <a:srgbClr val="F4F8FC"/>
          </a:solidFill>
          <a:ln w="15240">
            <a:solidFill>
              <a:srgbClr val="BECA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298448"/>
            <a:ext cx="73152" cy="1417320"/>
          </a:xfrm>
          <a:prstGeom prst="roundRect">
            <a:avLst/>
          </a:prstGeom>
          <a:solidFill>
            <a:srgbClr val="2550D8"/>
          </a:solidFill>
          <a:ln>
            <a:solidFill>
              <a:srgbClr val="255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4088" y="1499616"/>
            <a:ext cx="3017520" cy="29260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1500" b="1">
                <a:solidFill>
                  <a:srgbClr val="172033"/>
                </a:solidFill>
                <a:latin typeface="Aptos"/>
              </a:rPr>
              <a:t>Marriage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1901952"/>
            <a:ext cx="3017520" cy="73152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1000" b="0">
                <a:solidFill>
                  <a:srgbClr val="5B667A"/>
                </a:solidFill>
                <a:latin typeface="Aptos"/>
              </a:rPr>
              <a:t>Marriage or nikah certificate; clear spouse relationship proof.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298448"/>
            <a:ext cx="3337560" cy="1417320"/>
          </a:xfrm>
          <a:prstGeom prst="roundRect">
            <a:avLst/>
          </a:prstGeom>
          <a:solidFill>
            <a:srgbClr val="F4F8FC"/>
          </a:solidFill>
          <a:ln w="15240">
            <a:solidFill>
              <a:srgbClr val="BECA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389120" y="1298448"/>
            <a:ext cx="73152" cy="1417320"/>
          </a:xfrm>
          <a:prstGeom prst="round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90288" y="1499616"/>
            <a:ext cx="3017520" cy="29260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1500" b="1">
                <a:solidFill>
                  <a:srgbClr val="172033"/>
                </a:solidFill>
                <a:latin typeface="Aptos"/>
              </a:rPr>
              <a:t>Self illness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90288" y="1901952"/>
            <a:ext cx="3017520" cy="73152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1000" b="0">
                <a:solidFill>
                  <a:srgbClr val="5B667A"/>
                </a:solidFill>
                <a:latin typeface="Aptos"/>
              </a:rPr>
              <a:t>Medical proof where the patient is the applicant or strongly implied to be the applicant.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75320" y="1298448"/>
            <a:ext cx="3337560" cy="1417320"/>
          </a:xfrm>
          <a:prstGeom prst="roundRect">
            <a:avLst/>
          </a:prstGeom>
          <a:solidFill>
            <a:srgbClr val="F4F8FC"/>
          </a:solidFill>
          <a:ln w="15240">
            <a:solidFill>
              <a:srgbClr val="BECA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275320" y="1298448"/>
            <a:ext cx="73152" cy="141732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76488" y="1499616"/>
            <a:ext cx="3017520" cy="29260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1500" b="1">
                <a:solidFill>
                  <a:srgbClr val="172033"/>
                </a:solidFill>
                <a:latin typeface="Aptos"/>
              </a:rPr>
              <a:t>Family illness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76488" y="1901952"/>
            <a:ext cx="3017520" cy="73152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1000" b="0">
                <a:solidFill>
                  <a:srgbClr val="5B667A"/>
                </a:solidFill>
                <a:latin typeface="Aptos"/>
              </a:rPr>
              <a:t>Medical proof for spouse, child, parent, dependent or other relevant family member.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264408"/>
            <a:ext cx="3337560" cy="1417320"/>
          </a:xfrm>
          <a:prstGeom prst="roundRect">
            <a:avLst/>
          </a:prstGeom>
          <a:solidFill>
            <a:srgbClr val="F4F8FC"/>
          </a:solidFill>
          <a:ln w="15240">
            <a:solidFill>
              <a:srgbClr val="BECA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02920" y="3264408"/>
            <a:ext cx="73152" cy="141732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088" y="3465576"/>
            <a:ext cx="3017520" cy="29260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1500" b="1">
                <a:solidFill>
                  <a:srgbClr val="172033"/>
                </a:solidFill>
                <a:latin typeface="Aptos"/>
              </a:rPr>
              <a:t>Spouse location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" y="3867911"/>
            <a:ext cx="3017520" cy="73152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1000" b="0">
                <a:solidFill>
                  <a:srgbClr val="5B667A"/>
                </a:solidFill>
                <a:latin typeface="Aptos"/>
              </a:rPr>
              <a:t>Spouse workplace, posting, residence or location evidence relevant to placement.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89120" y="3264408"/>
            <a:ext cx="3337560" cy="1417320"/>
          </a:xfrm>
          <a:prstGeom prst="roundRect">
            <a:avLst/>
          </a:prstGeom>
          <a:solidFill>
            <a:srgbClr val="F4F8FC"/>
          </a:solidFill>
          <a:ln w="15240">
            <a:solidFill>
              <a:srgbClr val="BECA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389120" y="3264408"/>
            <a:ext cx="73152" cy="1417320"/>
          </a:xfrm>
          <a:prstGeom prst="roundRect">
            <a:avLst/>
          </a:prstGeom>
          <a:solidFill>
            <a:srgbClr val="15803D"/>
          </a:solidFill>
          <a:ln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90288" y="3465576"/>
            <a:ext cx="3017520" cy="29260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1500" b="1">
                <a:solidFill>
                  <a:srgbClr val="172033"/>
                </a:solidFill>
                <a:latin typeface="Aptos"/>
              </a:rPr>
              <a:t>OKU self/family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90288" y="3867911"/>
            <a:ext cx="3017520" cy="73152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1000" b="0">
                <a:solidFill>
                  <a:srgbClr val="5B667A"/>
                </a:solidFill>
                <a:latin typeface="Aptos"/>
              </a:rPr>
              <a:t>Official OKU card, JKM document, disability registration or clear disability evidence.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75320" y="3264408"/>
            <a:ext cx="3337560" cy="1417320"/>
          </a:xfrm>
          <a:prstGeom prst="roundRect">
            <a:avLst/>
          </a:prstGeom>
          <a:solidFill>
            <a:srgbClr val="F4F8FC"/>
          </a:solidFill>
          <a:ln w="15240">
            <a:solidFill>
              <a:srgbClr val="BECA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275320" y="3264408"/>
            <a:ext cx="73152" cy="1417320"/>
          </a:xfrm>
          <a:prstGeom prst="roundRect">
            <a:avLst/>
          </a:prstGeom>
          <a:solidFill>
            <a:srgbClr val="B91C1C"/>
          </a:solidFill>
          <a:ln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76488" y="3465576"/>
            <a:ext cx="3017520" cy="29260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1500" b="1">
                <a:solidFill>
                  <a:srgbClr val="172033"/>
                </a:solidFill>
                <a:latin typeface="Aptos"/>
              </a:rPr>
              <a:t>MedEX / exam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76488" y="3867911"/>
            <a:ext cx="3017520" cy="73152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1000" b="0">
                <a:solidFill>
                  <a:srgbClr val="5B667A"/>
                </a:solidFill>
                <a:latin typeface="Aptos"/>
              </a:rPr>
              <a:t>MedEX, postgraduate or specialist exam evidence; not routine physical examination.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508760" y="5715000"/>
            <a:ext cx="9235440" cy="411480"/>
          </a:xfrm>
          <a:prstGeom prst="roundRect">
            <a:avLst/>
          </a:prstGeom>
          <a:solidFill>
            <a:srgbClr val="E0F2FE"/>
          </a:solidFill>
          <a:ln>
            <a:solidFill>
              <a:srgbClr val="BAE6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75985"/>
                </a:solidFill>
                <a:latin typeface="Aptos"/>
              </a:rPr>
              <a:t>Design rule: unclaimed categories are not labelled as positive evidence.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338560" cy="34747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2600" b="1">
                <a:solidFill>
                  <a:srgbClr val="172033"/>
                </a:solidFill>
                <a:latin typeface="Aptos"/>
              </a:rPr>
              <a:t>Claim-guided document evidence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" y="676656"/>
            <a:ext cx="11155680" cy="27432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1300" b="0">
                <a:solidFill>
                  <a:srgbClr val="5B667A"/>
                </a:solidFill>
                <a:latin typeface="Aptos"/>
              </a:rPr>
              <a:t>Operational pipeline from applicant form to auditable decision outputs.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1417320"/>
            <a:ext cx="1444752" cy="1508760"/>
          </a:xfrm>
          <a:prstGeom prst="roundRect">
            <a:avLst/>
          </a:prstGeom>
          <a:solidFill>
            <a:srgbClr val="F4F8FC"/>
          </a:solidFill>
          <a:ln w="15240">
            <a:solidFill>
              <a:srgbClr val="BECA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20040" y="1417320"/>
            <a:ext cx="73152" cy="1508760"/>
          </a:xfrm>
          <a:prstGeom prst="roundRect">
            <a:avLst/>
          </a:prstGeom>
          <a:solidFill>
            <a:srgbClr val="2550D8"/>
          </a:solidFill>
          <a:ln>
            <a:solidFill>
              <a:srgbClr val="255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21207" y="1618488"/>
            <a:ext cx="1124712" cy="29260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1200" b="1">
                <a:solidFill>
                  <a:srgbClr val="172033"/>
                </a:solidFill>
                <a:latin typeface="Aptos"/>
              </a:rPr>
              <a:t>1. Ingest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207" y="2020824"/>
            <a:ext cx="1124712" cy="822959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5B667A"/>
                </a:solidFill>
                <a:latin typeface="Aptos"/>
              </a:rPr>
              <a:t>Map applicant columns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810512" y="2167128"/>
            <a:ext cx="173736" cy="0"/>
          </a:xfrm>
          <a:prstGeom prst="line">
            <a:avLst/>
          </a:prstGeom>
          <a:ln w="25400">
            <a:solidFill>
              <a:srgbClr val="BECA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011680" y="1417320"/>
            <a:ext cx="1444752" cy="1508760"/>
          </a:xfrm>
          <a:prstGeom prst="roundRect">
            <a:avLst/>
          </a:prstGeom>
          <a:solidFill>
            <a:srgbClr val="F4F8FC"/>
          </a:solidFill>
          <a:ln w="15240">
            <a:solidFill>
              <a:srgbClr val="BECA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011680" y="1417320"/>
            <a:ext cx="73152" cy="1508760"/>
          </a:xfrm>
          <a:prstGeom prst="round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12848" y="1618488"/>
            <a:ext cx="1124712" cy="29260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1200" b="1">
                <a:solidFill>
                  <a:srgbClr val="172033"/>
                </a:solidFill>
                <a:latin typeface="Aptos"/>
              </a:rPr>
              <a:t>2. Claims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12848" y="2020824"/>
            <a:ext cx="1124712" cy="822959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5B667A"/>
                </a:solidFill>
                <a:latin typeface="Aptos"/>
              </a:rPr>
              <a:t>Create claimed_* booleans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502152" y="2167128"/>
            <a:ext cx="173736" cy="0"/>
          </a:xfrm>
          <a:prstGeom prst="line">
            <a:avLst/>
          </a:prstGeom>
          <a:ln w="25400">
            <a:solidFill>
              <a:srgbClr val="BECA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703320" y="1417320"/>
            <a:ext cx="1444752" cy="1508760"/>
          </a:xfrm>
          <a:prstGeom prst="roundRect">
            <a:avLst/>
          </a:prstGeom>
          <a:solidFill>
            <a:srgbClr val="F4F8FC"/>
          </a:solidFill>
          <a:ln w="15240">
            <a:solidFill>
              <a:srgbClr val="BECA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703320" y="1417320"/>
            <a:ext cx="73152" cy="150876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04488" y="1618488"/>
            <a:ext cx="1124712" cy="29260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1200" b="1">
                <a:solidFill>
                  <a:srgbClr val="172033"/>
                </a:solidFill>
                <a:latin typeface="Aptos"/>
              </a:rPr>
              <a:t>3. PDF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04488" y="2020824"/>
            <a:ext cx="1124712" cy="822959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5B667A"/>
                </a:solidFill>
                <a:latin typeface="Aptos"/>
              </a:rPr>
              <a:t>Acquire original upload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193792" y="2167128"/>
            <a:ext cx="173736" cy="0"/>
          </a:xfrm>
          <a:prstGeom prst="line">
            <a:avLst/>
          </a:prstGeom>
          <a:ln w="25400">
            <a:solidFill>
              <a:srgbClr val="BECA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5394960" y="1417320"/>
            <a:ext cx="1444752" cy="1508760"/>
          </a:xfrm>
          <a:prstGeom prst="roundRect">
            <a:avLst/>
          </a:prstGeom>
          <a:solidFill>
            <a:srgbClr val="F4F8FC"/>
          </a:solidFill>
          <a:ln w="15240">
            <a:solidFill>
              <a:srgbClr val="BECA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394960" y="1417320"/>
            <a:ext cx="73152" cy="1508760"/>
          </a:xfrm>
          <a:prstGeom prst="roundRect">
            <a:avLst/>
          </a:prstGeom>
          <a:solidFill>
            <a:srgbClr val="2550D8"/>
          </a:solidFill>
          <a:ln>
            <a:solidFill>
              <a:srgbClr val="255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96128" y="1618488"/>
            <a:ext cx="1124712" cy="29260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1200" b="1">
                <a:solidFill>
                  <a:srgbClr val="172033"/>
                </a:solidFill>
                <a:latin typeface="Aptos"/>
              </a:rPr>
              <a:t>4. OCR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96128" y="2020824"/>
            <a:ext cx="1124712" cy="822959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5B667A"/>
                </a:solidFill>
                <a:latin typeface="Aptos"/>
              </a:rPr>
              <a:t>Direct text, render, OCR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885432" y="2167128"/>
            <a:ext cx="173736" cy="0"/>
          </a:xfrm>
          <a:prstGeom prst="line">
            <a:avLst/>
          </a:prstGeom>
          <a:ln w="25400">
            <a:solidFill>
              <a:srgbClr val="BECA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7086600" y="1417320"/>
            <a:ext cx="1444752" cy="1508760"/>
          </a:xfrm>
          <a:prstGeom prst="roundRect">
            <a:avLst/>
          </a:prstGeom>
          <a:solidFill>
            <a:srgbClr val="F4F8FC"/>
          </a:solidFill>
          <a:ln w="15240">
            <a:solidFill>
              <a:srgbClr val="BECA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086600" y="1417320"/>
            <a:ext cx="73152" cy="1508760"/>
          </a:xfrm>
          <a:prstGeom prst="round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87768" y="1618488"/>
            <a:ext cx="1124712" cy="29260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1200" b="1">
                <a:solidFill>
                  <a:srgbClr val="172033"/>
                </a:solidFill>
                <a:latin typeface="Aptos"/>
              </a:rPr>
              <a:t>5. Signals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87768" y="2020824"/>
            <a:ext cx="1124712" cy="822959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5B667A"/>
                </a:solidFill>
                <a:latin typeface="Aptos"/>
              </a:rPr>
              <a:t>Keywords, names, layout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577072" y="2167128"/>
            <a:ext cx="173736" cy="0"/>
          </a:xfrm>
          <a:prstGeom prst="line">
            <a:avLst/>
          </a:prstGeom>
          <a:ln w="25400">
            <a:solidFill>
              <a:srgbClr val="BECA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8778240" y="1417320"/>
            <a:ext cx="1444752" cy="1508760"/>
          </a:xfrm>
          <a:prstGeom prst="roundRect">
            <a:avLst/>
          </a:prstGeom>
          <a:solidFill>
            <a:srgbClr val="F4F8FC"/>
          </a:solidFill>
          <a:ln w="15240">
            <a:solidFill>
              <a:srgbClr val="BECA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778240" y="1417320"/>
            <a:ext cx="73152" cy="150876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79408" y="1618488"/>
            <a:ext cx="1124712" cy="29260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1200" b="1">
                <a:solidFill>
                  <a:srgbClr val="172033"/>
                </a:solidFill>
                <a:latin typeface="Aptos"/>
              </a:rPr>
              <a:t>6. AI harness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79408" y="2020824"/>
            <a:ext cx="1124712" cy="822959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5B667A"/>
                </a:solidFill>
                <a:latin typeface="Aptos"/>
              </a:rPr>
              <a:t>Verify claimed proof only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10268712" y="2167128"/>
            <a:ext cx="173736" cy="0"/>
          </a:xfrm>
          <a:prstGeom prst="line">
            <a:avLst/>
          </a:prstGeom>
          <a:ln w="25400">
            <a:solidFill>
              <a:srgbClr val="BECA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10469880" y="1417320"/>
            <a:ext cx="1444752" cy="1508760"/>
          </a:xfrm>
          <a:prstGeom prst="roundRect">
            <a:avLst/>
          </a:prstGeom>
          <a:solidFill>
            <a:srgbClr val="F4F8FC"/>
          </a:solidFill>
          <a:ln w="15240">
            <a:solidFill>
              <a:srgbClr val="BECA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0469880" y="1417320"/>
            <a:ext cx="73152" cy="1508760"/>
          </a:xfrm>
          <a:prstGeom prst="roundRect">
            <a:avLst/>
          </a:prstGeom>
          <a:solidFill>
            <a:srgbClr val="2550D8"/>
          </a:solidFill>
          <a:ln>
            <a:solidFill>
              <a:srgbClr val="255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671048" y="1618488"/>
            <a:ext cx="1124712" cy="29260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1200" b="1">
                <a:solidFill>
                  <a:srgbClr val="172033"/>
                </a:solidFill>
                <a:latin typeface="Aptos"/>
              </a:rPr>
              <a:t>7. Review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71048" y="2020824"/>
            <a:ext cx="1124712" cy="822959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5B667A"/>
                </a:solidFill>
                <a:latin typeface="Aptos"/>
              </a:rPr>
              <a:t>Structured audit output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" y="3886200"/>
            <a:ext cx="10607040" cy="32004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ctr"/>
            <a:r>
              <a:rPr sz="1700" b="1">
                <a:solidFill>
                  <a:srgbClr val="172033"/>
                </a:solidFill>
                <a:latin typeface="Aptos"/>
              </a:rPr>
              <a:t>Safeguards embedded across the workflow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4400" y="4572000"/>
            <a:ext cx="2148840" cy="384048"/>
          </a:xfrm>
          <a:prstGeom prst="roundRect">
            <a:avLst/>
          </a:prstGeom>
          <a:solidFill>
            <a:srgbClr val="E0F2FE"/>
          </a:solidFill>
          <a:ln>
            <a:solidFill>
              <a:srgbClr val="BAE6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75985"/>
                </a:solidFill>
                <a:latin typeface="Aptos"/>
              </a:rPr>
              <a:t>Skip unclaimed categories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520440" y="4572000"/>
            <a:ext cx="2148840" cy="384048"/>
          </a:xfrm>
          <a:prstGeom prst="roundRect">
            <a:avLst/>
          </a:prstGeom>
          <a:solidFill>
            <a:srgbClr val="E0F2FE"/>
          </a:solidFill>
          <a:ln>
            <a:solidFill>
              <a:srgbClr val="BAE6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75985"/>
                </a:solidFill>
                <a:latin typeface="Aptos"/>
              </a:rPr>
              <a:t>Cache OCR/model outputs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126480" y="4572000"/>
            <a:ext cx="2148840" cy="384048"/>
          </a:xfrm>
          <a:prstGeom prst="roundRect">
            <a:avLst/>
          </a:prstGeom>
          <a:solidFill>
            <a:srgbClr val="E0F2FE"/>
          </a:solidFill>
          <a:ln>
            <a:solidFill>
              <a:srgbClr val="BAE6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75985"/>
                </a:solidFill>
                <a:latin typeface="Aptos"/>
              </a:rPr>
              <a:t>Second-pass verification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732520" y="4572000"/>
            <a:ext cx="2148840" cy="384048"/>
          </a:xfrm>
          <a:prstGeom prst="roundRect">
            <a:avLst/>
          </a:prstGeom>
          <a:solidFill>
            <a:srgbClr val="E0F2FE"/>
          </a:solidFill>
          <a:ln>
            <a:solidFill>
              <a:srgbClr val="BAE6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75985"/>
                </a:solidFill>
                <a:latin typeface="Aptos"/>
              </a:rPr>
              <a:t>Structured JSON parsing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14400" y="5230368"/>
            <a:ext cx="2148840" cy="384048"/>
          </a:xfrm>
          <a:prstGeom prst="roundRect">
            <a:avLst/>
          </a:prstGeom>
          <a:solidFill>
            <a:srgbClr val="E0F2FE"/>
          </a:solidFill>
          <a:ln>
            <a:solidFill>
              <a:srgbClr val="BAE6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75985"/>
                </a:solidFill>
                <a:latin typeface="Aptos"/>
              </a:rPr>
              <a:t>Proof-strength scoring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520440" y="5230368"/>
            <a:ext cx="2148840" cy="384048"/>
          </a:xfrm>
          <a:prstGeom prst="roundRect">
            <a:avLst/>
          </a:prstGeom>
          <a:solidFill>
            <a:srgbClr val="E0F2FE"/>
          </a:solidFill>
          <a:ln>
            <a:solidFill>
              <a:srgbClr val="BAE6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75985"/>
                </a:solidFill>
                <a:latin typeface="Aptos"/>
              </a:rPr>
              <a:t>Original links retained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126480" y="5230368"/>
            <a:ext cx="2148840" cy="384048"/>
          </a:xfrm>
          <a:prstGeom prst="roundRect">
            <a:avLst/>
          </a:prstGeom>
          <a:solidFill>
            <a:srgbClr val="E0F2FE"/>
          </a:solidFill>
          <a:ln>
            <a:solidFill>
              <a:srgbClr val="BAE6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75985"/>
                </a:solidFill>
                <a:latin typeface="Aptos"/>
              </a:rPr>
              <a:t>Manual review triggers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338560" cy="34747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2600" b="1">
                <a:solidFill>
                  <a:srgbClr val="172033"/>
                </a:solidFill>
                <a:latin typeface="Aptos"/>
              </a:rPr>
              <a:t>AI harness and local inference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" y="676656"/>
            <a:ext cx="11155680" cy="27432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1300" b="0">
                <a:solidFill>
                  <a:srgbClr val="5B667A"/>
                </a:solidFill>
                <a:latin typeface="Aptos"/>
              </a:rPr>
              <a:t>Model calls are constrained by deterministic context, schema and audit policy.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143000"/>
            <a:ext cx="7680960" cy="777240"/>
          </a:xfrm>
          <a:prstGeom prst="roundRect">
            <a:avLst/>
          </a:prstGeom>
          <a:solidFill>
            <a:srgbClr val="F4F8FC"/>
          </a:solidFill>
          <a:ln w="15240">
            <a:solidFill>
              <a:srgbClr val="BECA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94360" y="1143000"/>
            <a:ext cx="73152" cy="777240"/>
          </a:xfrm>
          <a:prstGeom prst="roundRect">
            <a:avLst/>
          </a:prstGeom>
          <a:solidFill>
            <a:srgbClr val="2550D8"/>
          </a:solidFill>
          <a:ln>
            <a:solidFill>
              <a:srgbClr val="255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8" y="1344168"/>
            <a:ext cx="7360920" cy="29260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1300" b="1">
                <a:solidFill>
                  <a:srgbClr val="172033"/>
                </a:solidFill>
                <a:latin typeface="Aptos"/>
              </a:rPr>
              <a:t>Langflow orchestration layer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528" y="1746504"/>
            <a:ext cx="7360920" cy="91439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5B667A"/>
                </a:solidFill>
                <a:latin typeface="Aptos"/>
              </a:rPr>
              <a:t>Readable workflow graph coordinates loader, fetcher, OCR router, verifier and export writer.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434840" y="1956816"/>
            <a:ext cx="0" cy="210312"/>
          </a:xfrm>
          <a:prstGeom prst="line">
            <a:avLst/>
          </a:prstGeom>
          <a:ln w="25400">
            <a:solidFill>
              <a:srgbClr val="BECA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594360" y="2148840"/>
            <a:ext cx="7680960" cy="777240"/>
          </a:xfrm>
          <a:prstGeom prst="roundRect">
            <a:avLst/>
          </a:prstGeom>
          <a:solidFill>
            <a:srgbClr val="F4F8FC"/>
          </a:solidFill>
          <a:ln w="15240">
            <a:solidFill>
              <a:srgbClr val="BECA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148840"/>
            <a:ext cx="73152" cy="777240"/>
          </a:xfrm>
          <a:prstGeom prst="round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8" y="2350008"/>
            <a:ext cx="7360920" cy="29260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1300" b="1">
                <a:solidFill>
                  <a:srgbClr val="172033"/>
                </a:solidFill>
                <a:latin typeface="Aptos"/>
              </a:rPr>
              <a:t>Deterministic guardrails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8" y="2752344"/>
            <a:ext cx="7360920" cy="91439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5B667A"/>
                </a:solidFill>
                <a:latin typeface="Aptos"/>
              </a:rPr>
              <a:t>Claim extraction, category skipping, keyword priors, proof rules and confidence thresholds.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434840" y="2962656"/>
            <a:ext cx="0" cy="210312"/>
          </a:xfrm>
          <a:prstGeom prst="line">
            <a:avLst/>
          </a:prstGeom>
          <a:ln w="25400">
            <a:solidFill>
              <a:srgbClr val="BECA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594360" y="3154680"/>
            <a:ext cx="7680960" cy="777240"/>
          </a:xfrm>
          <a:prstGeom prst="roundRect">
            <a:avLst/>
          </a:prstGeom>
          <a:solidFill>
            <a:srgbClr val="F4F8FC"/>
          </a:solidFill>
          <a:ln w="15240">
            <a:solidFill>
              <a:srgbClr val="BECA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154680"/>
            <a:ext cx="73152" cy="77724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5528" y="3355848"/>
            <a:ext cx="7360920" cy="29260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1300" b="1">
                <a:solidFill>
                  <a:srgbClr val="172033"/>
                </a:solidFill>
                <a:latin typeface="Aptos"/>
              </a:rPr>
              <a:t>Document perception layer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8" y="3758184"/>
            <a:ext cx="7360920" cy="91439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5B667A"/>
                </a:solidFill>
                <a:latin typeface="Aptos"/>
              </a:rPr>
              <a:t>PDF rendering, direct text extraction, OCR fallback and page-image retention.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434840" y="3968496"/>
            <a:ext cx="0" cy="210312"/>
          </a:xfrm>
          <a:prstGeom prst="line">
            <a:avLst/>
          </a:prstGeom>
          <a:ln w="25400">
            <a:solidFill>
              <a:srgbClr val="BECA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594360" y="4160520"/>
            <a:ext cx="7680960" cy="777240"/>
          </a:xfrm>
          <a:prstGeom prst="roundRect">
            <a:avLst/>
          </a:prstGeom>
          <a:solidFill>
            <a:srgbClr val="F4F8FC"/>
          </a:solidFill>
          <a:ln w="15240">
            <a:solidFill>
              <a:srgbClr val="BECA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94360" y="4160520"/>
            <a:ext cx="73152" cy="77724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5528" y="4361688"/>
            <a:ext cx="7360920" cy="29260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1300" b="1">
                <a:solidFill>
                  <a:srgbClr val="172033"/>
                </a:solidFill>
                <a:latin typeface="Aptos"/>
              </a:rPr>
              <a:t>Local multimodal model layer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5528" y="4764024"/>
            <a:ext cx="7360920" cy="91439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5B667A"/>
                </a:solidFill>
                <a:latin typeface="Aptos"/>
              </a:rPr>
              <a:t>Ollama serves Qwen2.5-VL locally for visual verification of claimed evidence.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434840" y="4974336"/>
            <a:ext cx="0" cy="210312"/>
          </a:xfrm>
          <a:prstGeom prst="line">
            <a:avLst/>
          </a:prstGeom>
          <a:ln w="25400">
            <a:solidFill>
              <a:srgbClr val="BECA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594360" y="5166360"/>
            <a:ext cx="7680960" cy="777240"/>
          </a:xfrm>
          <a:prstGeom prst="roundRect">
            <a:avLst/>
          </a:prstGeom>
          <a:solidFill>
            <a:srgbClr val="F4F8FC"/>
          </a:solidFill>
          <a:ln w="15240">
            <a:solidFill>
              <a:srgbClr val="BECA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94360" y="5166360"/>
            <a:ext cx="73152" cy="777240"/>
          </a:xfrm>
          <a:prstGeom prst="roundRect">
            <a:avLst/>
          </a:prstGeom>
          <a:solidFill>
            <a:srgbClr val="15803D"/>
          </a:solidFill>
          <a:ln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5528" y="5367528"/>
            <a:ext cx="7360920" cy="29260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1300" b="1">
                <a:solidFill>
                  <a:srgbClr val="172033"/>
                </a:solidFill>
                <a:latin typeface="Aptos"/>
              </a:rPr>
              <a:t>Structured adjudication layer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5528" y="5769864"/>
            <a:ext cx="7360920" cy="91439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5B667A"/>
                </a:solidFill>
                <a:latin typeface="Aptos"/>
              </a:rPr>
              <a:t>Schema parsing, proof strength, supporting page, summary and review policy.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732520" y="1234440"/>
            <a:ext cx="2926080" cy="4480560"/>
          </a:xfrm>
          <a:prstGeom prst="roundRect">
            <a:avLst/>
          </a:prstGeom>
          <a:solidFill>
            <a:srgbClr val="ECFDF5"/>
          </a:solidFill>
          <a:ln>
            <a:solidFill>
              <a:srgbClr val="99F6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06840" y="1600200"/>
            <a:ext cx="2468880" cy="32004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1700" b="1">
                <a:solidFill>
                  <a:srgbClr val="0F766E"/>
                </a:solidFill>
                <a:latin typeface="Aptos"/>
              </a:rPr>
              <a:t>Why this matters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06840" y="2148840"/>
            <a:ext cx="2240280" cy="38404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1000" b="0">
                <a:solidFill>
                  <a:srgbClr val="172033"/>
                </a:solidFill>
                <a:latin typeface="Aptos"/>
              </a:rPr>
              <a:t>- No external document API required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06840" y="2743200"/>
            <a:ext cx="2240280" cy="38404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1000" b="0">
                <a:solidFill>
                  <a:srgbClr val="172033"/>
                </a:solidFill>
                <a:latin typeface="Aptos"/>
              </a:rPr>
              <a:t>- Prompt sees applicant claims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06840" y="3337560"/>
            <a:ext cx="2240280" cy="38404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1000" b="0">
                <a:solidFill>
                  <a:srgbClr val="172033"/>
                </a:solidFill>
                <a:latin typeface="Aptos"/>
              </a:rPr>
              <a:t>- Model cannot reward unclaimed categories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06840" y="3931920"/>
            <a:ext cx="2240280" cy="38404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1000" b="0">
                <a:solidFill>
                  <a:srgbClr val="172033"/>
                </a:solidFill>
                <a:latin typeface="Aptos"/>
              </a:rPr>
              <a:t>- Outputs are auditable, not just labels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06840" y="4526280"/>
            <a:ext cx="2240280" cy="38404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1000" b="0">
                <a:solidFill>
                  <a:srgbClr val="172033"/>
                </a:solidFill>
                <a:latin typeface="Aptos"/>
              </a:rPr>
              <a:t>- Operator can inspect source PDF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